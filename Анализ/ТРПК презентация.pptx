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14" autoAdjust="0"/>
    <p:restoredTop sz="94660"/>
  </p:normalViewPr>
  <p:slideViewPr>
    <p:cSldViewPr snapToGrid="0">
      <p:cViewPr varScale="1">
        <p:scale>
          <a:sx n="154" d="100"/>
          <a:sy n="154" d="100"/>
        </p:scale>
        <p:origin x="582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B4E6E18-A326-94CB-6FBC-27FC3E7F39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0AF39C17-5230-29FE-0FC3-69E0E6C0188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1D7A3E1-BDB2-0D66-E2A5-4919C58AF0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428281-DD93-4C89-BD01-80EBCD493AAE}" type="datetimeFigureOut">
              <a:rPr lang="ru-RU" smtClean="0"/>
              <a:t>22.11.2025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6281E8F-0126-C45B-9189-F79C0047DE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A76763D-74D8-6586-17A6-323D087B8F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42E629-321C-4FD8-AEE9-26916C86C57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486662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B9347D9-7235-6932-49EB-BBB4F174D8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820EF29-8A03-EBAA-184C-08CAB031F6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698694C-A48A-A3B7-CEB6-6F19E149B6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428281-DD93-4C89-BD01-80EBCD493AAE}" type="datetimeFigureOut">
              <a:rPr lang="ru-RU" smtClean="0"/>
              <a:t>22.11.2025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AEC5677-D586-CA69-1218-48B3A41B12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1A623B3-2576-F520-E4B8-A600FA1F9C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42E629-321C-4FD8-AEE9-26916C86C57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168273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047B8C4-7299-C036-334F-D55A61C3DD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CCF58E8-A689-3D67-B022-BB18688108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B778CF9-8070-8F4A-F1E0-D72E2FB646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428281-DD93-4C89-BD01-80EBCD493AAE}" type="datetimeFigureOut">
              <a:rPr lang="ru-RU" smtClean="0"/>
              <a:t>22.11.2025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DFCB08C-44C2-33AE-2BC9-B8F04FA0E7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719B6E8-0EF7-302E-5834-280F102872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42E629-321C-4FD8-AEE9-26916C86C57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002512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36F118C-18C3-99AE-411B-2CCFEE5FC4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B8D601A-1005-3D22-7C86-5FB96DBBB61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6719B6A0-4CE2-472E-244D-5AA7A84567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6B95A268-C6DD-34E6-C24E-6A1B316DE4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428281-DD93-4C89-BD01-80EBCD493AAE}" type="datetimeFigureOut">
              <a:rPr lang="ru-RU" smtClean="0"/>
              <a:t>22.11.2025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130600E6-B86E-56C4-B718-92BDA79566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3C922C10-8605-152E-10E8-F119BC6A1C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42E629-321C-4FD8-AEE9-26916C86C57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11236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DFBB0A2-AF5B-53E0-872E-CFC3CEB5BF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F6196D58-B9AB-3333-3953-E37AD4D642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4D000F61-FB3D-7341-5F28-4F0F28F968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210B1BAB-E1DF-39BD-8743-C5D06190EF0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0F64FD62-7D12-29A8-1140-7E45161A9B9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2E54714E-9ED2-6F67-0574-343992EF9A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428281-DD93-4C89-BD01-80EBCD493AAE}" type="datetimeFigureOut">
              <a:rPr lang="ru-RU" smtClean="0"/>
              <a:t>22.11.2025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33C9CEDD-DB3A-9C09-3515-C36CE3E193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2F33E1BF-E11D-CC39-D78F-0EB57CC398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42E629-321C-4FD8-AEE9-26916C86C57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686477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7C513F4-B17E-C1E8-4DEF-8626F4B4D8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166C22BB-178F-580F-04E3-CEC6CDF0A7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428281-DD93-4C89-BD01-80EBCD493AAE}" type="datetimeFigureOut">
              <a:rPr lang="ru-RU" smtClean="0"/>
              <a:t>22.11.2025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4ED5C70F-4068-9343-02AD-4A42BCBAC1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8C8DFDC8-493D-767F-5DE1-A39ECEF702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42E629-321C-4FD8-AEE9-26916C86C57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311837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4931EFD3-2B41-6A4D-9E42-F54535E10E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428281-DD93-4C89-BD01-80EBCD493AAE}" type="datetimeFigureOut">
              <a:rPr lang="ru-RU" smtClean="0"/>
              <a:t>22.11.2025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281F2716-B7DE-EF87-92F5-0F71E68402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73792DB-C536-F598-2458-B89EED7011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42E629-321C-4FD8-AEE9-26916C86C57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689330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89CD47C-FB93-F564-4F63-95A266283D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01A0B79-21EC-CE12-9293-D1BC3A6328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81C24751-019F-3B10-5FD9-52B982DCCF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FCF37BBC-A9A2-403A-5792-8C414C9139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428281-DD93-4C89-BD01-80EBCD493AAE}" type="datetimeFigureOut">
              <a:rPr lang="ru-RU" smtClean="0"/>
              <a:t>22.11.2025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A150779A-7B93-C497-E354-C36B1FCB0A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6ACC0AAD-CF05-6151-F9C8-B71BC8C4A4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42E629-321C-4FD8-AEE9-26916C86C57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907829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CC73B27-226C-A0F6-1585-88B1ECE3F7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7E2CEFC4-A55E-49FA-5A53-62EBE54D846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64FBBD32-7EF7-3505-AACA-9D624D5D67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9C5E3785-6F37-D582-B79A-40F999C9A5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428281-DD93-4C89-BD01-80EBCD493AAE}" type="datetimeFigureOut">
              <a:rPr lang="ru-RU" smtClean="0"/>
              <a:t>22.11.2025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D433DE45-846B-35DF-4AAA-630E91CCC1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4E58FAD7-90E5-45CF-8E16-CAE2CB8E46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42E629-321C-4FD8-AEE9-26916C86C57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255824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4F185A3-141C-244E-3DD3-2815F772FE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21F2A6D0-5A2E-C42A-3213-14DEBAA43E9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D620BD2-133E-CED8-4036-F347BFDB57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428281-DD93-4C89-BD01-80EBCD493AAE}" type="datetimeFigureOut">
              <a:rPr lang="ru-RU" smtClean="0"/>
              <a:t>22.11.2025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987DE99-526A-D38C-83A7-7B11523DE6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FF6FD86-BCCB-C70C-2E23-CA03E3A06E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42E629-321C-4FD8-AEE9-26916C86C57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341639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4E4EB2CA-48A4-CC31-0F12-C069C0518EC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C7EF3C39-E44C-ED24-9A44-2DA656C2F31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4DE45BE-76EA-B665-6F8C-2F601ADF2D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428281-DD93-4C89-BD01-80EBCD493AAE}" type="datetimeFigureOut">
              <a:rPr lang="ru-RU" smtClean="0"/>
              <a:t>22.11.2025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B59BBB1-28C4-23E1-0A49-F0C1F7052B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759505B-AB5A-B671-8ACD-083CB7F3F2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42E629-321C-4FD8-AEE9-26916C86C57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369514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4F4CEA1-A662-6FA7-7EE7-CBE01F0CC2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08659080-D7F2-49FF-D1AA-69C4BFFBE8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E6DD900-FAEB-29D8-2A9C-07C3A2829C5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4428281-DD93-4C89-BD01-80EBCD493AAE}" type="datetimeFigureOut">
              <a:rPr lang="ru-RU" smtClean="0"/>
              <a:t>22.11.2025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F74E1EA-0DD7-2343-2846-50684858CAB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7FAA0B5-082F-E572-3720-55A0C270440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42E629-321C-4FD8-AEE9-26916C86C57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532223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E35EF31-2C0F-D16E-79F8-72A70AE2319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Веб-система «Новый Бит»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DF4A31F5-07E2-F27B-B8E5-BF19F4363B6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/>
              <a:t>Автоматизированная система онлайн-бронирования компьютеров в компьютерном клубе</a:t>
            </a:r>
          </a:p>
          <a:p>
            <a:endParaRPr lang="ru-R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148EB3F-6725-8999-CD3D-4CA4E7CE1BB9}"/>
              </a:ext>
            </a:extLst>
          </p:cNvPr>
          <p:cNvSpPr txBox="1"/>
          <p:nvPr/>
        </p:nvSpPr>
        <p:spPr>
          <a:xfrm>
            <a:off x="9353565" y="5085900"/>
            <a:ext cx="29423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Подготовил студент</a:t>
            </a:r>
            <a:r>
              <a:rPr lang="ru-RU" b="1" dirty="0">
                <a:latin typeface="Calibri" panose="020F0502020204030204" pitchFamily="34" charset="0"/>
                <a:cs typeface="Calibri" panose="020F0502020204030204" pitchFamily="34" charset="0"/>
              </a:rPr>
              <a:t>: </a:t>
            </a:r>
          </a:p>
          <a:p>
            <a:r>
              <a:rPr lang="ru-RU" dirty="0">
                <a:latin typeface="Calibri" panose="020F0502020204030204" pitchFamily="34" charset="0"/>
                <a:cs typeface="Calibri" panose="020F0502020204030204" pitchFamily="34" charset="0"/>
              </a:rPr>
              <a:t>Кондратьев Василий</a:t>
            </a:r>
          </a:p>
        </p:txBody>
      </p:sp>
    </p:spTree>
    <p:extLst>
      <p:ext uri="{BB962C8B-B14F-4D97-AF65-F5344CB8AC3E}">
        <p14:creationId xmlns:p14="http://schemas.microsoft.com/office/powerpoint/2010/main" val="11210653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1DC8479-C1B4-FEF9-AC6F-83F2ABF817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Введение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84898CD-5851-B975-394B-5DB58BB6CC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01347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400" dirty="0"/>
              <a:t>Что такое система онлайн-бронирования компьютеров?</a:t>
            </a:r>
          </a:p>
          <a:p>
            <a:r>
              <a:rPr lang="ru-RU" sz="2400" dirty="0"/>
              <a:t>Цифровая платформа для гибкого самостоятельного заказа рабочих мест в клубе</a:t>
            </a:r>
          </a:p>
          <a:p>
            <a:r>
              <a:rPr lang="ru-RU" sz="2400" dirty="0"/>
              <a:t>Удалённое управление — пользователь может забронировать ПК из любого места в Интернете</a:t>
            </a:r>
          </a:p>
          <a:p>
            <a:r>
              <a:rPr lang="ru-RU" sz="2400" dirty="0"/>
              <a:t>Вся информация в одном месте — доступная каталога оборудования, истории своих броней, отчёты по выручке (для персонала)</a:t>
            </a:r>
          </a:p>
          <a:p>
            <a:r>
              <a:rPr lang="ru-RU" sz="2400" dirty="0"/>
              <a:t>Экономия времени и ресурсов для клиента (нет очередей) и для администратора (автоматический учёт)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520870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8A884DC-6C26-1496-D2BC-3557EF988F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Проблема</a:t>
            </a:r>
          </a:p>
        </p:txBody>
      </p:sp>
      <p:sp>
        <p:nvSpPr>
          <p:cNvPr id="7" name="Объект 6">
            <a:extLst>
              <a:ext uri="{FF2B5EF4-FFF2-40B4-BE49-F238E27FC236}">
                <a16:creationId xmlns:a16="http://schemas.microsoft.com/office/drawing/2014/main" id="{FD609508-6E50-A08A-67F4-1FF8F8A3ED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60500"/>
            <a:ext cx="10515600" cy="460375"/>
          </a:xfrm>
        </p:spPr>
        <p:txBody>
          <a:bodyPr/>
          <a:lstStyle/>
          <a:p>
            <a:r>
              <a:rPr lang="ru-RU" sz="2000" dirty="0"/>
              <a:t>Проблема: Неудобный, неэффективный процесс бронирования</a:t>
            </a:r>
          </a:p>
          <a:p>
            <a:endParaRPr lang="ru-RU" dirty="0"/>
          </a:p>
        </p:txBody>
      </p:sp>
      <p:graphicFrame>
        <p:nvGraphicFramePr>
          <p:cNvPr id="13" name="Таблица 12">
            <a:extLst>
              <a:ext uri="{FF2B5EF4-FFF2-40B4-BE49-F238E27FC236}">
                <a16:creationId xmlns:a16="http://schemas.microsoft.com/office/drawing/2014/main" id="{E2993B76-8671-EB48-CBC6-B203FB0AE4E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0164628"/>
              </p:ext>
            </p:extLst>
          </p:nvPr>
        </p:nvGraphicFramePr>
        <p:xfrm>
          <a:off x="838200" y="1972492"/>
          <a:ext cx="10989129" cy="471748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63043">
                  <a:extLst>
                    <a:ext uri="{9D8B030D-6E8A-4147-A177-3AD203B41FA5}">
                      <a16:colId xmlns:a16="http://schemas.microsoft.com/office/drawing/2014/main" val="1812682249"/>
                    </a:ext>
                  </a:extLst>
                </a:gridCol>
                <a:gridCol w="3663043">
                  <a:extLst>
                    <a:ext uri="{9D8B030D-6E8A-4147-A177-3AD203B41FA5}">
                      <a16:colId xmlns:a16="http://schemas.microsoft.com/office/drawing/2014/main" val="2524672692"/>
                    </a:ext>
                  </a:extLst>
                </a:gridCol>
                <a:gridCol w="3663043">
                  <a:extLst>
                    <a:ext uri="{9D8B030D-6E8A-4147-A177-3AD203B41FA5}">
                      <a16:colId xmlns:a16="http://schemas.microsoft.com/office/drawing/2014/main" val="3575546845"/>
                    </a:ext>
                  </a:extLst>
                </a:gridCol>
              </a:tblGrid>
              <a:tr h="404232">
                <a:tc>
                  <a:txBody>
                    <a:bodyPr/>
                    <a:lstStyle/>
                    <a:p>
                      <a:pPr algn="ctr" fontAlgn="t" latinLnBrk="0">
                        <a:buNone/>
                      </a:pPr>
                      <a:r>
                        <a:rPr lang="ru-RU" b="0">
                          <a:effectLst/>
                        </a:rPr>
                        <a:t>Аспект</a:t>
                      </a: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algn="ctr" fontAlgn="t" latinLnBrk="0">
                        <a:buNone/>
                      </a:pPr>
                      <a:r>
                        <a:rPr lang="ru-RU" b="0">
                          <a:effectLst/>
                        </a:rPr>
                        <a:t>Текущее положение</a:t>
                      </a: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0" dirty="0"/>
                        <a:t>Решение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54333328"/>
                  </a:ext>
                </a:extLst>
              </a:tr>
              <a:tr h="773781">
                <a:tc>
                  <a:txBody>
                    <a:bodyPr/>
                    <a:lstStyle/>
                    <a:p>
                      <a:pPr algn="ctr" fontAlgn="base" latinLnBrk="0">
                        <a:buNone/>
                      </a:pPr>
                      <a:r>
                        <a:rPr lang="ru-RU" b="0" dirty="0">
                          <a:effectLst/>
                        </a:rPr>
                        <a:t>Заказ рабочего места</a:t>
                      </a:r>
                      <a:endParaRPr lang="ru-RU" dirty="0">
                        <a:effectLst/>
                      </a:endParaRPr>
                    </a:p>
                  </a:txBody>
                  <a:tcPr marL="76200" marR="76200" anchor="ctr"/>
                </a:tc>
                <a:tc>
                  <a:txBody>
                    <a:bodyPr/>
                    <a:lstStyle/>
                    <a:p>
                      <a:pPr algn="ctr" fontAlgn="base" latinLnBrk="0">
                        <a:buNone/>
                      </a:pPr>
                      <a:r>
                        <a:rPr lang="ru-RU">
                          <a:effectLst/>
                        </a:rPr>
                        <a:t>По телефону или очно — долго, не удобно в пиковые часы</a:t>
                      </a:r>
                    </a:p>
                  </a:txBody>
                  <a:tcPr marL="76200" marR="762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Клиент бронирует самостоятельно 24/7, без очередей</a:t>
                      </a:r>
                    </a:p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0409726"/>
                  </a:ext>
                </a:extLst>
              </a:tr>
              <a:tr h="866212">
                <a:tc>
                  <a:txBody>
                    <a:bodyPr/>
                    <a:lstStyle/>
                    <a:p>
                      <a:pPr algn="ctr" fontAlgn="base" latinLnBrk="0">
                        <a:buNone/>
                      </a:pPr>
                      <a:r>
                        <a:rPr lang="ru-RU" b="0" dirty="0">
                          <a:effectLst/>
                        </a:rPr>
                        <a:t>Доступность информации</a:t>
                      </a:r>
                      <a:endParaRPr lang="ru-RU" dirty="0">
                        <a:effectLst/>
                      </a:endParaRPr>
                    </a:p>
                  </a:txBody>
                  <a:tcPr marL="76200" marR="76200" anchor="ctr"/>
                </a:tc>
                <a:tc>
                  <a:txBody>
                    <a:bodyPr/>
                    <a:lstStyle/>
                    <a:p>
                      <a:pPr algn="ctr" fontAlgn="base" latinLnBrk="0">
                        <a:buNone/>
                      </a:pPr>
                      <a:r>
                        <a:rPr lang="ru-RU">
                          <a:effectLst/>
                        </a:rPr>
                        <a:t>Нельзя увидеть онлайн, свободен ли нужный ПК и его характеристики</a:t>
                      </a:r>
                    </a:p>
                  </a:txBody>
                  <a:tcPr marL="76200" marR="762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Видит реальное время свободных ПК и их параметры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38018165"/>
                  </a:ext>
                </a:extLst>
              </a:tr>
              <a:tr h="773781">
                <a:tc>
                  <a:txBody>
                    <a:bodyPr/>
                    <a:lstStyle/>
                    <a:p>
                      <a:pPr algn="ctr" fontAlgn="base" latinLnBrk="0">
                        <a:buNone/>
                      </a:pPr>
                      <a:r>
                        <a:rPr lang="ru-RU" b="0" dirty="0">
                          <a:effectLst/>
                        </a:rPr>
                        <a:t>Отслеживание броней</a:t>
                      </a:r>
                      <a:endParaRPr lang="ru-RU" dirty="0">
                        <a:effectLst/>
                      </a:endParaRPr>
                    </a:p>
                  </a:txBody>
                  <a:tcPr marL="76200" marR="76200" anchor="ctr"/>
                </a:tc>
                <a:tc>
                  <a:txBody>
                    <a:bodyPr/>
                    <a:lstStyle/>
                    <a:p>
                      <a:pPr algn="ctr" fontAlgn="base" latinLnBrk="0">
                        <a:buNone/>
                      </a:pPr>
                      <a:r>
                        <a:rPr lang="ru-RU" dirty="0">
                          <a:effectLst/>
                        </a:rPr>
                        <a:t>Нет истории броней, трудно отменить или изменить время</a:t>
                      </a:r>
                    </a:p>
                  </a:txBody>
                  <a:tcPr marL="76200" marR="762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Управляет своими бронями (просмотр, отмена)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13678817"/>
                  </a:ext>
                </a:extLst>
              </a:tr>
              <a:tr h="773781">
                <a:tc>
                  <a:txBody>
                    <a:bodyPr/>
                    <a:lstStyle/>
                    <a:p>
                      <a:pPr algn="ctr" fontAlgn="base" latinLnBrk="0">
                        <a:buNone/>
                      </a:pPr>
                      <a:r>
                        <a:rPr lang="ru-RU" b="0" dirty="0">
                          <a:effectLst/>
                        </a:rPr>
                        <a:t>Учёт для администратора</a:t>
                      </a:r>
                      <a:endParaRPr lang="ru-RU" dirty="0">
                        <a:effectLst/>
                      </a:endParaRPr>
                    </a:p>
                  </a:txBody>
                  <a:tcPr marL="76200" marR="76200" anchor="ctr"/>
                </a:tc>
                <a:tc>
                  <a:txBody>
                    <a:bodyPr/>
                    <a:lstStyle/>
                    <a:p>
                      <a:pPr algn="ctr" fontAlgn="base" latinLnBrk="0">
                        <a:buNone/>
                      </a:pPr>
                      <a:r>
                        <a:rPr lang="ru-RU">
                          <a:effectLst/>
                        </a:rPr>
                        <a:t>Записи в тетради или Excel — ошибки, потеря данных</a:t>
                      </a:r>
                    </a:p>
                  </a:txBody>
                  <a:tcPr marL="76200" marR="762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Администратор видит все данные в структурированном виде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19084687"/>
                  </a:ext>
                </a:extLst>
              </a:tr>
              <a:tr h="773781">
                <a:tc>
                  <a:txBody>
                    <a:bodyPr/>
                    <a:lstStyle/>
                    <a:p>
                      <a:pPr algn="ctr" fontAlgn="base" latinLnBrk="0">
                        <a:buNone/>
                      </a:pPr>
                      <a:r>
                        <a:rPr lang="ru-RU" b="0" dirty="0">
                          <a:effectLst/>
                        </a:rPr>
                        <a:t>Отчётность</a:t>
                      </a:r>
                      <a:endParaRPr lang="ru-RU" dirty="0">
                        <a:effectLst/>
                      </a:endParaRPr>
                    </a:p>
                  </a:txBody>
                  <a:tcPr marL="76200" marR="76200" anchor="ctr"/>
                </a:tc>
                <a:tc>
                  <a:txBody>
                    <a:bodyPr/>
                    <a:lstStyle/>
                    <a:p>
                      <a:pPr algn="ctr" fontAlgn="base" latinLnBrk="0">
                        <a:buNone/>
                      </a:pPr>
                      <a:r>
                        <a:rPr lang="ru-RU" dirty="0">
                          <a:effectLst/>
                        </a:rPr>
                        <a:t>Сложно оценить загруженность и выручку за период</a:t>
                      </a:r>
                    </a:p>
                  </a:txBody>
                  <a:tcPr marL="76200" marR="762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Автоматическое формирование отчётов по выручке и загруженности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646672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538150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C59D8A0-0731-79A2-406E-DB6D03D021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Целевая аудитория</a:t>
            </a:r>
          </a:p>
        </p:txBody>
      </p:sp>
      <p:graphicFrame>
        <p:nvGraphicFramePr>
          <p:cNvPr id="6" name="Объект 5">
            <a:extLst>
              <a:ext uri="{FF2B5EF4-FFF2-40B4-BE49-F238E27FC236}">
                <a16:creationId xmlns:a16="http://schemas.microsoft.com/office/drawing/2014/main" id="{B0E72838-7A65-A682-C2B0-FF73C33A2B1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56167787"/>
              </p:ext>
            </p:extLst>
          </p:nvPr>
        </p:nvGraphicFramePr>
        <p:xfrm>
          <a:off x="838200" y="1512117"/>
          <a:ext cx="10515597" cy="2987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199">
                  <a:extLst>
                    <a:ext uri="{9D8B030D-6E8A-4147-A177-3AD203B41FA5}">
                      <a16:colId xmlns:a16="http://schemas.microsoft.com/office/drawing/2014/main" val="4232223291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2900795575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173278313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fontAlgn="t" latinLnBrk="0">
                        <a:buNone/>
                      </a:pPr>
                      <a:r>
                        <a:rPr lang="ru-RU" b="0">
                          <a:effectLst/>
                        </a:rPr>
                        <a:t>Группа</a:t>
                      </a: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algn="ctr" fontAlgn="t" latinLnBrk="0">
                        <a:buNone/>
                      </a:pPr>
                      <a:r>
                        <a:rPr lang="ru-RU" b="0">
                          <a:effectLst/>
                        </a:rPr>
                        <a:t>Потребность</a:t>
                      </a: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algn="ctr" fontAlgn="t" latinLnBrk="0">
                        <a:buNone/>
                      </a:pPr>
                      <a:r>
                        <a:rPr lang="ru-RU" b="0">
                          <a:effectLst/>
                        </a:rPr>
                        <a:t>Использование</a:t>
                      </a:r>
                    </a:p>
                  </a:txBody>
                  <a:tcPr marL="76200" marR="76200" marT="76200" marB="76200"/>
                </a:tc>
                <a:extLst>
                  <a:ext uri="{0D108BD9-81ED-4DB2-BD59-A6C34878D82A}">
                    <a16:rowId xmlns:a16="http://schemas.microsoft.com/office/drawing/2014/main" val="40417920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base" latinLnBrk="0">
                        <a:buNone/>
                      </a:pPr>
                      <a:r>
                        <a:rPr lang="ru-RU" b="0">
                          <a:effectLst/>
                        </a:rPr>
                        <a:t>Посетители клуба</a:t>
                      </a:r>
                      <a:endParaRPr lang="ru-RU">
                        <a:effectLst/>
                      </a:endParaRPr>
                    </a:p>
                  </a:txBody>
                  <a:tcPr marL="76200" marR="76200" anchor="ctr"/>
                </a:tc>
                <a:tc>
                  <a:txBody>
                    <a:bodyPr/>
                    <a:lstStyle/>
                    <a:p>
                      <a:pPr algn="ctr" fontAlgn="base" latinLnBrk="0">
                        <a:buNone/>
                      </a:pPr>
                      <a:r>
                        <a:rPr lang="ru-RU">
                          <a:effectLst/>
                        </a:rPr>
                        <a:t>Удобное онлайн-бронирование, информация о ПК</a:t>
                      </a:r>
                    </a:p>
                  </a:txBody>
                  <a:tcPr marL="76200" marR="76200" anchor="ctr"/>
                </a:tc>
                <a:tc>
                  <a:txBody>
                    <a:bodyPr/>
                    <a:lstStyle/>
                    <a:p>
                      <a:pPr algn="ctr" fontAlgn="base" latinLnBrk="0">
                        <a:buNone/>
                      </a:pPr>
                      <a:r>
                        <a:rPr lang="ru-RU">
                          <a:effectLst/>
                        </a:rPr>
                        <a:t>Сайт системы</a:t>
                      </a:r>
                    </a:p>
                  </a:txBody>
                  <a:tcPr marL="76200" marR="76200" anchor="ctr"/>
                </a:tc>
                <a:extLst>
                  <a:ext uri="{0D108BD9-81ED-4DB2-BD59-A6C34878D82A}">
                    <a16:rowId xmlns:a16="http://schemas.microsoft.com/office/drawing/2014/main" val="14480010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base" latinLnBrk="0">
                        <a:buNone/>
                      </a:pPr>
                      <a:r>
                        <a:rPr lang="ru-RU" b="0">
                          <a:effectLst/>
                        </a:rPr>
                        <a:t>Администраторы клуба</a:t>
                      </a:r>
                      <a:endParaRPr lang="ru-RU">
                        <a:effectLst/>
                      </a:endParaRPr>
                    </a:p>
                  </a:txBody>
                  <a:tcPr marL="76200" marR="76200" anchor="ctr"/>
                </a:tc>
                <a:tc>
                  <a:txBody>
                    <a:bodyPr/>
                    <a:lstStyle/>
                    <a:p>
                      <a:pPr algn="ctr" fontAlgn="base" latinLnBrk="0">
                        <a:buNone/>
                      </a:pPr>
                      <a:r>
                        <a:rPr lang="ru-RU" dirty="0">
                          <a:effectLst/>
                        </a:rPr>
                        <a:t>Управление оборудованием, контроль броней, отчёты</a:t>
                      </a:r>
                    </a:p>
                  </a:txBody>
                  <a:tcPr marL="76200" marR="76200" anchor="ctr"/>
                </a:tc>
                <a:tc>
                  <a:txBody>
                    <a:bodyPr/>
                    <a:lstStyle/>
                    <a:p>
                      <a:pPr algn="ctr" fontAlgn="base" latinLnBrk="0">
                        <a:buNone/>
                      </a:pPr>
                      <a:r>
                        <a:rPr lang="ru-RU">
                          <a:effectLst/>
                        </a:rPr>
                        <a:t>Админ-панель системы</a:t>
                      </a:r>
                    </a:p>
                  </a:txBody>
                  <a:tcPr marL="76200" marR="76200" anchor="ctr"/>
                </a:tc>
                <a:extLst>
                  <a:ext uri="{0D108BD9-81ED-4DB2-BD59-A6C34878D82A}">
                    <a16:rowId xmlns:a16="http://schemas.microsoft.com/office/drawing/2014/main" val="34273431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base" latinLnBrk="0">
                        <a:buNone/>
                      </a:pPr>
                      <a:r>
                        <a:rPr lang="ru-RU" b="0">
                          <a:effectLst/>
                        </a:rPr>
                        <a:t>Менеджеры</a:t>
                      </a:r>
                      <a:endParaRPr lang="ru-RU">
                        <a:effectLst/>
                      </a:endParaRPr>
                    </a:p>
                  </a:txBody>
                  <a:tcPr marL="76200" marR="76200" anchor="ctr"/>
                </a:tc>
                <a:tc>
                  <a:txBody>
                    <a:bodyPr/>
                    <a:lstStyle/>
                    <a:p>
                      <a:pPr algn="ctr" fontAlgn="base" latinLnBrk="0">
                        <a:buNone/>
                      </a:pPr>
                      <a:r>
                        <a:rPr lang="ru-RU">
                          <a:effectLst/>
                        </a:rPr>
                        <a:t>Аналитика по выручке и загруженности</a:t>
                      </a:r>
                    </a:p>
                  </a:txBody>
                  <a:tcPr marL="76200" marR="76200" anchor="ctr"/>
                </a:tc>
                <a:tc>
                  <a:txBody>
                    <a:bodyPr/>
                    <a:lstStyle/>
                    <a:p>
                      <a:pPr algn="ctr" fontAlgn="base" latinLnBrk="0">
                        <a:buNone/>
                      </a:pPr>
                      <a:r>
                        <a:rPr lang="ru-RU">
                          <a:effectLst/>
                        </a:rPr>
                        <a:t>Раздел отчётов</a:t>
                      </a:r>
                    </a:p>
                  </a:txBody>
                  <a:tcPr marL="76200" marR="76200" anchor="ctr"/>
                </a:tc>
                <a:extLst>
                  <a:ext uri="{0D108BD9-81ED-4DB2-BD59-A6C34878D82A}">
                    <a16:rowId xmlns:a16="http://schemas.microsoft.com/office/drawing/2014/main" val="27933942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base" latinLnBrk="0">
                        <a:buNone/>
                      </a:pPr>
                      <a:r>
                        <a:rPr lang="ru-RU" b="0">
                          <a:effectLst/>
                        </a:rPr>
                        <a:t>Владельцы клуба</a:t>
                      </a:r>
                      <a:endParaRPr lang="ru-RU">
                        <a:effectLst/>
                      </a:endParaRPr>
                    </a:p>
                  </a:txBody>
                  <a:tcPr marL="76200" marR="76200" anchor="ctr"/>
                </a:tc>
                <a:tc>
                  <a:txBody>
                    <a:bodyPr/>
                    <a:lstStyle/>
                    <a:p>
                      <a:pPr algn="ctr" fontAlgn="base" latinLnBrk="0">
                        <a:buNone/>
                      </a:pPr>
                      <a:r>
                        <a:rPr lang="ru-RU">
                          <a:effectLst/>
                        </a:rPr>
                        <a:t>Повышение эффективности и удовлетворённости клиентов</a:t>
                      </a:r>
                    </a:p>
                  </a:txBody>
                  <a:tcPr marL="76200" marR="76200" anchor="ctr"/>
                </a:tc>
                <a:tc>
                  <a:txBody>
                    <a:bodyPr/>
                    <a:lstStyle/>
                    <a:p>
                      <a:pPr algn="ctr" fontAlgn="base" latinLnBrk="0">
                        <a:buNone/>
                      </a:pPr>
                      <a:r>
                        <a:rPr lang="ru-RU" dirty="0">
                          <a:effectLst/>
                        </a:rPr>
                        <a:t>Общая статистика</a:t>
                      </a:r>
                    </a:p>
                  </a:txBody>
                  <a:tcPr marL="76200" marR="76200" anchor="ctr"/>
                </a:tc>
                <a:extLst>
                  <a:ext uri="{0D108BD9-81ED-4DB2-BD59-A6C34878D82A}">
                    <a16:rowId xmlns:a16="http://schemas.microsoft.com/office/drawing/2014/main" val="375163911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506387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229D399-0F3C-F35A-E575-B433771CA5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91251"/>
            <a:ext cx="10515600" cy="1325563"/>
          </a:xfrm>
        </p:spPr>
        <p:txBody>
          <a:bodyPr/>
          <a:lstStyle/>
          <a:p>
            <a:r>
              <a:rPr lang="ru-RU" dirty="0"/>
              <a:t>Существующие аналоги и решения</a:t>
            </a:r>
          </a:p>
        </p:txBody>
      </p:sp>
      <p:graphicFrame>
        <p:nvGraphicFramePr>
          <p:cNvPr id="4" name="Объект 3">
            <a:extLst>
              <a:ext uri="{FF2B5EF4-FFF2-40B4-BE49-F238E27FC236}">
                <a16:creationId xmlns:a16="http://schemas.microsoft.com/office/drawing/2014/main" id="{1B18B524-AEAF-DB41-3D9C-DF0951BA297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40669727"/>
              </p:ext>
            </p:extLst>
          </p:nvPr>
        </p:nvGraphicFramePr>
        <p:xfrm>
          <a:off x="838200" y="1716814"/>
          <a:ext cx="10515600" cy="363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8900">
                  <a:extLst>
                    <a:ext uri="{9D8B030D-6E8A-4147-A177-3AD203B41FA5}">
                      <a16:colId xmlns:a16="http://schemas.microsoft.com/office/drawing/2014/main" val="275238045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001145528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715735666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722643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fontAlgn="t" latinLnBrk="0">
                        <a:buNone/>
                      </a:pPr>
                      <a:r>
                        <a:rPr lang="ru-RU" b="0">
                          <a:effectLst/>
                        </a:rPr>
                        <a:t>Критерий</a:t>
                      </a: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algn="ctr" fontAlgn="t" latinLnBrk="0">
                        <a:buNone/>
                      </a:pPr>
                      <a:r>
                        <a:rPr lang="ru-RU" b="0">
                          <a:effectLst/>
                        </a:rPr>
                        <a:t>Ручное бронирование (по телефону/очно)</a:t>
                      </a: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algn="ctr" fontAlgn="t" latinLnBrk="0">
                        <a:buNone/>
                      </a:pPr>
                      <a:r>
                        <a:rPr lang="ru-RU" b="0">
                          <a:effectLst/>
                        </a:rPr>
                        <a:t>Простая книга </a:t>
                      </a:r>
                      <a:r>
                        <a:rPr lang="en-US" b="0">
                          <a:effectLst/>
                        </a:rPr>
                        <a:t>Excel</a:t>
                      </a: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algn="ctr" fontAlgn="t" latinLnBrk="0">
                        <a:buNone/>
                      </a:pPr>
                      <a:r>
                        <a:rPr lang="ru-RU" b="0">
                          <a:effectLst/>
                        </a:rPr>
                        <a:t>Специализированные системы (</a:t>
                      </a:r>
                      <a:r>
                        <a:rPr lang="en-US" b="0">
                          <a:effectLst/>
                        </a:rPr>
                        <a:t>SmartShell, Senet)</a:t>
                      </a:r>
                    </a:p>
                  </a:txBody>
                  <a:tcPr marL="76200" marR="76200" marT="76200" marB="76200"/>
                </a:tc>
                <a:extLst>
                  <a:ext uri="{0D108BD9-81ED-4DB2-BD59-A6C34878D82A}">
                    <a16:rowId xmlns:a16="http://schemas.microsoft.com/office/drawing/2014/main" val="2011267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base" latinLnBrk="0">
                        <a:buNone/>
                      </a:pPr>
                      <a:r>
                        <a:rPr lang="ru-RU" b="0">
                          <a:effectLst/>
                        </a:rPr>
                        <a:t>Удобство для клиента</a:t>
                      </a:r>
                      <a:endParaRPr lang="ru-RU">
                        <a:effectLst/>
                      </a:endParaRPr>
                    </a:p>
                  </a:txBody>
                  <a:tcPr marL="76200" marR="76200" anchor="ctr"/>
                </a:tc>
                <a:tc>
                  <a:txBody>
                    <a:bodyPr/>
                    <a:lstStyle/>
                    <a:p>
                      <a:pPr algn="ctr" fontAlgn="base" latinLnBrk="0">
                        <a:buNone/>
                      </a:pPr>
                      <a:r>
                        <a:rPr lang="ru-RU" dirty="0">
                          <a:effectLst/>
                        </a:rPr>
                        <a:t>Низкое — зависит от времени работы</a:t>
                      </a:r>
                    </a:p>
                  </a:txBody>
                  <a:tcPr marL="76200" marR="76200" anchor="ctr"/>
                </a:tc>
                <a:tc>
                  <a:txBody>
                    <a:bodyPr/>
                    <a:lstStyle/>
                    <a:p>
                      <a:pPr algn="ctr" fontAlgn="base" latinLnBrk="0">
                        <a:buNone/>
                      </a:pPr>
                      <a:r>
                        <a:rPr lang="ru-RU">
                          <a:effectLst/>
                        </a:rPr>
                        <a:t>Среднее — нужна регистрация в ЛК</a:t>
                      </a:r>
                    </a:p>
                  </a:txBody>
                  <a:tcPr marL="76200" marR="76200" anchor="ctr"/>
                </a:tc>
                <a:tc>
                  <a:txBody>
                    <a:bodyPr/>
                    <a:lstStyle/>
                    <a:p>
                      <a:pPr algn="ctr" fontAlgn="base" latinLnBrk="0">
                        <a:buNone/>
                      </a:pPr>
                      <a:r>
                        <a:rPr lang="ru-RU" dirty="0">
                          <a:effectLst/>
                        </a:rPr>
                        <a:t>Высокое — полный функционал</a:t>
                      </a:r>
                    </a:p>
                  </a:txBody>
                  <a:tcPr marL="76200" marR="76200" anchor="ctr"/>
                </a:tc>
                <a:extLst>
                  <a:ext uri="{0D108BD9-81ED-4DB2-BD59-A6C34878D82A}">
                    <a16:rowId xmlns:a16="http://schemas.microsoft.com/office/drawing/2014/main" val="6062697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base" latinLnBrk="0">
                        <a:buNone/>
                      </a:pPr>
                      <a:r>
                        <a:rPr lang="ru-RU" b="0">
                          <a:effectLst/>
                        </a:rPr>
                        <a:t>Доступность 24/7</a:t>
                      </a:r>
                      <a:endParaRPr lang="ru-RU">
                        <a:effectLst/>
                      </a:endParaRPr>
                    </a:p>
                  </a:txBody>
                  <a:tcPr marL="76200" marR="76200" anchor="ctr"/>
                </a:tc>
                <a:tc>
                  <a:txBody>
                    <a:bodyPr/>
                    <a:lstStyle/>
                    <a:p>
                      <a:pPr algn="ctr" fontAlgn="base" latinLnBrk="0">
                        <a:buNone/>
                      </a:pPr>
                      <a:r>
                        <a:rPr lang="ru-RU">
                          <a:effectLst/>
                        </a:rPr>
                        <a:t>Нет</a:t>
                      </a:r>
                    </a:p>
                  </a:txBody>
                  <a:tcPr marL="76200" marR="76200" anchor="ctr"/>
                </a:tc>
                <a:tc>
                  <a:txBody>
                    <a:bodyPr/>
                    <a:lstStyle/>
                    <a:p>
                      <a:pPr algn="ctr" fontAlgn="base" latinLnBrk="0">
                        <a:buNone/>
                      </a:pPr>
                      <a:r>
                        <a:rPr lang="ru-RU">
                          <a:effectLst/>
                        </a:rPr>
                        <a:t>Частично</a:t>
                      </a:r>
                    </a:p>
                  </a:txBody>
                  <a:tcPr marL="76200" marR="76200" anchor="ctr"/>
                </a:tc>
                <a:tc>
                  <a:txBody>
                    <a:bodyPr/>
                    <a:lstStyle/>
                    <a:p>
                      <a:pPr algn="ctr" fontAlgn="base" latinLnBrk="0">
                        <a:buNone/>
                      </a:pPr>
                      <a:r>
                        <a:rPr lang="ru-RU" dirty="0">
                          <a:effectLst/>
                        </a:rPr>
                        <a:t>Да</a:t>
                      </a:r>
                    </a:p>
                  </a:txBody>
                  <a:tcPr marL="76200" marR="76200" anchor="ctr"/>
                </a:tc>
                <a:extLst>
                  <a:ext uri="{0D108BD9-81ED-4DB2-BD59-A6C34878D82A}">
                    <a16:rowId xmlns:a16="http://schemas.microsoft.com/office/drawing/2014/main" val="1642808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base" latinLnBrk="0">
                        <a:buNone/>
                      </a:pPr>
                      <a:r>
                        <a:rPr lang="ru-RU" b="0">
                          <a:effectLst/>
                        </a:rPr>
                        <a:t>Автоматизация</a:t>
                      </a:r>
                      <a:endParaRPr lang="ru-RU">
                        <a:effectLst/>
                      </a:endParaRPr>
                    </a:p>
                  </a:txBody>
                  <a:tcPr marL="76200" marR="76200" anchor="ctr"/>
                </a:tc>
                <a:tc>
                  <a:txBody>
                    <a:bodyPr/>
                    <a:lstStyle/>
                    <a:p>
                      <a:pPr algn="ctr" fontAlgn="base" latinLnBrk="0">
                        <a:buNone/>
                      </a:pPr>
                      <a:r>
                        <a:rPr lang="ru-RU">
                          <a:effectLst/>
                        </a:rPr>
                        <a:t>Нет</a:t>
                      </a:r>
                    </a:p>
                  </a:txBody>
                  <a:tcPr marL="76200" marR="76200" anchor="ctr"/>
                </a:tc>
                <a:tc>
                  <a:txBody>
                    <a:bodyPr/>
                    <a:lstStyle/>
                    <a:p>
                      <a:pPr algn="ctr" fontAlgn="base" latinLnBrk="0">
                        <a:buNone/>
                      </a:pPr>
                      <a:r>
                        <a:rPr lang="ru-RU">
                          <a:effectLst/>
                        </a:rPr>
                        <a:t>Нет</a:t>
                      </a:r>
                    </a:p>
                  </a:txBody>
                  <a:tcPr marL="76200" marR="76200" anchor="ctr"/>
                </a:tc>
                <a:tc>
                  <a:txBody>
                    <a:bodyPr/>
                    <a:lstStyle/>
                    <a:p>
                      <a:pPr algn="ctr" fontAlgn="base" latinLnBrk="0">
                        <a:buNone/>
                      </a:pPr>
                      <a:r>
                        <a:rPr lang="ru-RU" dirty="0">
                          <a:effectLst/>
                        </a:rPr>
                        <a:t>Да</a:t>
                      </a:r>
                    </a:p>
                  </a:txBody>
                  <a:tcPr marL="76200" marR="76200" anchor="ctr"/>
                </a:tc>
                <a:extLst>
                  <a:ext uri="{0D108BD9-81ED-4DB2-BD59-A6C34878D82A}">
                    <a16:rowId xmlns:a16="http://schemas.microsoft.com/office/drawing/2014/main" val="36708350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base" latinLnBrk="0">
                        <a:buNone/>
                      </a:pPr>
                      <a:r>
                        <a:rPr lang="ru-RU" b="0">
                          <a:effectLst/>
                        </a:rPr>
                        <a:t>Отчётность</a:t>
                      </a:r>
                      <a:endParaRPr lang="ru-RU">
                        <a:effectLst/>
                      </a:endParaRPr>
                    </a:p>
                  </a:txBody>
                  <a:tcPr marL="76200" marR="76200" anchor="ctr"/>
                </a:tc>
                <a:tc>
                  <a:txBody>
                    <a:bodyPr/>
                    <a:lstStyle/>
                    <a:p>
                      <a:pPr algn="ctr" fontAlgn="base" latinLnBrk="0">
                        <a:buNone/>
                      </a:pPr>
                      <a:r>
                        <a:rPr lang="ru-RU">
                          <a:effectLst/>
                        </a:rPr>
                        <a:t>Нет</a:t>
                      </a:r>
                    </a:p>
                  </a:txBody>
                  <a:tcPr marL="76200" marR="76200" anchor="ctr"/>
                </a:tc>
                <a:tc>
                  <a:txBody>
                    <a:bodyPr/>
                    <a:lstStyle/>
                    <a:p>
                      <a:pPr algn="ctr" fontAlgn="base" latinLnBrk="0">
                        <a:buNone/>
                      </a:pPr>
                      <a:r>
                        <a:rPr lang="ru-RU">
                          <a:effectLst/>
                        </a:rPr>
                        <a:t>Частичная (ручной расчёт)</a:t>
                      </a:r>
                    </a:p>
                  </a:txBody>
                  <a:tcPr marL="76200" marR="76200" anchor="ctr"/>
                </a:tc>
                <a:tc>
                  <a:txBody>
                    <a:bodyPr/>
                    <a:lstStyle/>
                    <a:p>
                      <a:pPr algn="ctr" fontAlgn="base" latinLnBrk="0">
                        <a:buNone/>
                      </a:pPr>
                      <a:r>
                        <a:rPr lang="ru-RU" dirty="0">
                          <a:effectLst/>
                        </a:rPr>
                        <a:t>Да</a:t>
                      </a:r>
                    </a:p>
                  </a:txBody>
                  <a:tcPr marL="76200" marR="76200" anchor="ctr"/>
                </a:tc>
                <a:extLst>
                  <a:ext uri="{0D108BD9-81ED-4DB2-BD59-A6C34878D82A}">
                    <a16:rowId xmlns:a16="http://schemas.microsoft.com/office/drawing/2014/main" val="4636866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base" latinLnBrk="0">
                        <a:buNone/>
                      </a:pPr>
                      <a:r>
                        <a:rPr lang="ru-RU" b="0">
                          <a:effectLst/>
                        </a:rPr>
                        <a:t>Стоимость внедрения</a:t>
                      </a:r>
                      <a:endParaRPr lang="ru-RU">
                        <a:effectLst/>
                      </a:endParaRPr>
                    </a:p>
                  </a:txBody>
                  <a:tcPr marL="76200" marR="76200" anchor="ctr"/>
                </a:tc>
                <a:tc>
                  <a:txBody>
                    <a:bodyPr/>
                    <a:lstStyle/>
                    <a:p>
                      <a:pPr algn="ctr" fontAlgn="base" latinLnBrk="0">
                        <a:buNone/>
                      </a:pPr>
                      <a:r>
                        <a:rPr lang="ru-RU">
                          <a:effectLst/>
                        </a:rPr>
                        <a:t>Низкая (персонал)</a:t>
                      </a:r>
                    </a:p>
                  </a:txBody>
                  <a:tcPr marL="76200" marR="76200" anchor="ctr"/>
                </a:tc>
                <a:tc>
                  <a:txBody>
                    <a:bodyPr/>
                    <a:lstStyle/>
                    <a:p>
                      <a:pPr algn="ctr" fontAlgn="base" latinLnBrk="0">
                        <a:buNone/>
                      </a:pPr>
                      <a:r>
                        <a:rPr lang="ru-RU">
                          <a:effectLst/>
                        </a:rPr>
                        <a:t>Низкая</a:t>
                      </a:r>
                    </a:p>
                  </a:txBody>
                  <a:tcPr marL="76200" marR="76200" anchor="ctr"/>
                </a:tc>
                <a:tc>
                  <a:txBody>
                    <a:bodyPr/>
                    <a:lstStyle/>
                    <a:p>
                      <a:pPr algn="ctr" fontAlgn="base" latinLnBrk="0">
                        <a:buNone/>
                      </a:pPr>
                      <a:r>
                        <a:rPr lang="ru-RU" dirty="0">
                          <a:effectLst/>
                        </a:rPr>
                        <a:t>Высокая (5000—50000 руб./месяц)</a:t>
                      </a:r>
                    </a:p>
                  </a:txBody>
                  <a:tcPr marL="76200" marR="76200" anchor="ctr"/>
                </a:tc>
                <a:extLst>
                  <a:ext uri="{0D108BD9-81ED-4DB2-BD59-A6C34878D82A}">
                    <a16:rowId xmlns:a16="http://schemas.microsoft.com/office/drawing/2014/main" val="374249555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014845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20D24D2-FA53-19FE-1F71-2A5C86B7ED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Результаты анализа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09D486B-CCD3-3615-029C-D398E1B213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509861"/>
          </a:xfrm>
        </p:spPr>
        <p:txBody>
          <a:bodyPr>
            <a:normAutofit fontScale="85000" lnSpcReduction="20000"/>
          </a:bodyPr>
          <a:lstStyle/>
          <a:p>
            <a:r>
              <a:rPr lang="ru-RU" dirty="0"/>
              <a:t>Ручное бронирование — проще в освоении, но неэффективно при росте клиентов</a:t>
            </a:r>
          </a:p>
          <a:p>
            <a:r>
              <a:rPr lang="ru-RU" dirty="0"/>
              <a:t>Excel — хорошая первоначальная попытка, но без уведомлений и реальной интеграции</a:t>
            </a:r>
          </a:p>
          <a:p>
            <a:r>
              <a:rPr lang="ru-RU" dirty="0"/>
              <a:t>Дорогие системы — полный функционал, но избыточны для небольших клубов и требуют подписки</a:t>
            </a:r>
          </a:p>
          <a:p>
            <a:pPr marL="0" indent="0">
              <a:buNone/>
            </a:pPr>
            <a:r>
              <a:rPr lang="ru-RU" dirty="0"/>
              <a:t>Вывод:</a:t>
            </a:r>
          </a:p>
          <a:p>
            <a:pPr marL="0" indent="0">
              <a:buNone/>
            </a:pPr>
            <a:r>
              <a:rPr lang="ru-RU" dirty="0"/>
              <a:t>Существующие решения либо слишком дорогие, либо неудобные. Нужна система, которая:</a:t>
            </a:r>
          </a:p>
          <a:p>
            <a:r>
              <a:rPr lang="ru-RU" dirty="0"/>
              <a:t>Проста в использовании (для клиентов и админов)</a:t>
            </a:r>
          </a:p>
          <a:p>
            <a:r>
              <a:rPr lang="ru-RU" dirty="0"/>
              <a:t>Недорога в разработке и поддержке</a:t>
            </a:r>
          </a:p>
          <a:p>
            <a:r>
              <a:rPr lang="ru-RU" dirty="0"/>
              <a:t>Предоставляет основной функционал онлайн-бронирования, отчётов и управления оборудованием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8573349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4E6FA96-1953-1451-80E4-3D91E0DFD5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Решение — Веб-система «Новый Бит»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47A1A06-2890-A0A6-A014-8B5A5EABB3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20352"/>
            <a:ext cx="10515600" cy="4351338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ru-RU" dirty="0"/>
              <a:t>Ключевые отличия:</a:t>
            </a:r>
          </a:p>
          <a:p>
            <a:r>
              <a:rPr lang="ru-RU" dirty="0"/>
              <a:t>Специализирована под компьютерные клубы</a:t>
            </a:r>
            <a:br>
              <a:rPr lang="ru-RU" dirty="0"/>
            </a:br>
            <a:r>
              <a:rPr lang="ru-RU" dirty="0"/>
              <a:t>— Интеграция с реальными типами</a:t>
            </a:r>
          </a:p>
          <a:p>
            <a:pPr marL="0" indent="0">
              <a:buNone/>
            </a:pPr>
            <a:r>
              <a:rPr lang="ru-RU" dirty="0"/>
              <a:t>   — Автоматический расчёт стоимости по часам и типу</a:t>
            </a:r>
          </a:p>
          <a:p>
            <a:r>
              <a:rPr lang="ru-RU" dirty="0"/>
              <a:t>Простой, интуитивный интерфейс</a:t>
            </a:r>
            <a:br>
              <a:rPr lang="ru-RU" dirty="0"/>
            </a:br>
            <a:r>
              <a:rPr lang="ru-RU" dirty="0"/>
              <a:t>— Регистрация и вход за 1 минуту</a:t>
            </a:r>
            <a:br>
              <a:rPr lang="ru-RU" dirty="0"/>
            </a:br>
            <a:r>
              <a:rPr lang="ru-RU" dirty="0"/>
              <a:t>— Бронирование в 3 клика</a:t>
            </a:r>
            <a:br>
              <a:rPr lang="ru-RU" dirty="0"/>
            </a:br>
            <a:r>
              <a:rPr lang="ru-RU" dirty="0"/>
              <a:t>— Отчёты генерируются одной кнопкой</a:t>
            </a:r>
          </a:p>
          <a:p>
            <a:r>
              <a:rPr lang="ru-RU" dirty="0"/>
              <a:t>Локальное развертывание </a:t>
            </a:r>
            <a:br>
              <a:rPr lang="ru-RU" dirty="0"/>
            </a:br>
            <a:r>
              <a:rPr lang="ru-RU" dirty="0"/>
              <a:t>— Работает на локальном веб-сервере</a:t>
            </a:r>
            <a:br>
              <a:rPr lang="ru-RU" dirty="0"/>
            </a:br>
            <a:r>
              <a:rPr lang="ru-RU" dirty="0"/>
              <a:t>— Низкие затраты на поддержку</a:t>
            </a:r>
          </a:p>
        </p:txBody>
      </p:sp>
    </p:spTree>
    <p:extLst>
      <p:ext uri="{BB962C8B-B14F-4D97-AF65-F5344CB8AC3E}">
        <p14:creationId xmlns:p14="http://schemas.microsoft.com/office/powerpoint/2010/main" val="25707051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50DB2A4-A639-8CFC-EB7B-B03C4F457C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96039" y="2766218"/>
            <a:ext cx="5599922" cy="1325563"/>
          </a:xfrm>
        </p:spPr>
        <p:txBody>
          <a:bodyPr/>
          <a:lstStyle/>
          <a:p>
            <a:r>
              <a:rPr lang="ru-RU" dirty="0"/>
              <a:t>Спасибо за внимание.</a:t>
            </a:r>
          </a:p>
        </p:txBody>
      </p:sp>
    </p:spTree>
    <p:extLst>
      <p:ext uri="{BB962C8B-B14F-4D97-AF65-F5344CB8AC3E}">
        <p14:creationId xmlns:p14="http://schemas.microsoft.com/office/powerpoint/2010/main" val="2215284699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27</TotalTime>
  <Words>459</Words>
  <Application>Microsoft Office PowerPoint</Application>
  <PresentationFormat>Широкоэкранный</PresentationFormat>
  <Paragraphs>87</Paragraphs>
  <Slides>8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Тема Office</vt:lpstr>
      <vt:lpstr>Веб-система «Новый Бит»</vt:lpstr>
      <vt:lpstr>Введение</vt:lpstr>
      <vt:lpstr>Проблема</vt:lpstr>
      <vt:lpstr>Целевая аудитория</vt:lpstr>
      <vt:lpstr>Существующие аналоги и решения</vt:lpstr>
      <vt:lpstr>Результаты анализа</vt:lpstr>
      <vt:lpstr>Решение — Веб-система «Новый Бит»</vt:lpstr>
      <vt:lpstr>Спасибо за внимание.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Vasya</dc:creator>
  <cp:lastModifiedBy>Vasya</cp:lastModifiedBy>
  <cp:revision>2</cp:revision>
  <dcterms:created xsi:type="dcterms:W3CDTF">2025-11-21T17:42:30Z</dcterms:created>
  <dcterms:modified xsi:type="dcterms:W3CDTF">2025-11-21T18:13:56Z</dcterms:modified>
</cp:coreProperties>
</file>